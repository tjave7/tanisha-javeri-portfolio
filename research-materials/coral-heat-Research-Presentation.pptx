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61120"/>
        </a:solidFill>
        <a:effectLst/>
      </p:bgPr>
    </p:bg>
    <p:spTree>
      <p:nvGrpSpPr>
        <p:cNvPr id="1" name=""/>
        <p:cNvGrpSpPr/>
        <p:nvPr/>
      </p:nvGrpSpPr>
      <p:grpSpPr/>
      <p:sp>
        <p:nvSpPr>
          <p:cNvPr id="2" name="TextBox 1"/>
          <p:cNvSpPr txBox="1"/>
          <p:nvPr/>
        </p:nvSpPr>
        <p:spPr>
          <a:xfrm>
            <a:off x="640080" y="411480"/>
            <a:ext cx="10058400" cy="320040"/>
          </a:xfrm>
          <a:prstGeom prst="rect">
            <a:avLst/>
          </a:prstGeom>
          <a:noFill/>
        </p:spPr>
        <p:txBody>
          <a:bodyPr wrap="square">
            <a:spAutoFit/>
          </a:bodyPr>
          <a:lstStyle/>
          <a:p>
            <a:pPr>
              <a:spcAft>
                <a:spcPts val="1400"/>
              </a:spcAft>
              <a:defRPr sz="1200" b="1">
                <a:solidFill>
                  <a:srgbClr val="6BE2D2"/>
                </a:solidFill>
              </a:defRPr>
            </a:pPr>
            <a:r>
              <a:t>INDEPENDENT RESEARCH</a:t>
            </a:r>
          </a:p>
        </p:txBody>
      </p:sp>
      <p:sp>
        <p:nvSpPr>
          <p:cNvPr id="3" name="TextBox 2"/>
          <p:cNvSpPr txBox="1"/>
          <p:nvPr/>
        </p:nvSpPr>
        <p:spPr>
          <a:xfrm>
            <a:off x="640080" y="1005840"/>
            <a:ext cx="10789920" cy="1188720"/>
          </a:xfrm>
          <a:prstGeom prst="rect">
            <a:avLst/>
          </a:prstGeom>
          <a:noFill/>
        </p:spPr>
        <p:txBody>
          <a:bodyPr wrap="square">
            <a:spAutoFit/>
          </a:bodyPr>
          <a:lstStyle/>
          <a:p>
            <a:pPr>
              <a:spcAft>
                <a:spcPts val="1400"/>
              </a:spcAft>
              <a:defRPr sz="3400" b="1">
                <a:solidFill>
                  <a:srgbClr val="F4F9FF"/>
                </a:solidFill>
              </a:defRPr>
            </a:pPr>
            <a:r>
              <a:t>What Do Global Coral Bleaching Events Tell Us About Ocean Heat?</a:t>
            </a:r>
          </a:p>
        </p:txBody>
      </p:sp>
      <p:sp>
        <p:nvSpPr>
          <p:cNvPr id="4" name="TextBox 3"/>
          <p:cNvSpPr txBox="1"/>
          <p:nvPr/>
        </p:nvSpPr>
        <p:spPr>
          <a:xfrm>
            <a:off x="685800" y="2423160"/>
            <a:ext cx="10698480" cy="3383280"/>
          </a:xfrm>
          <a:prstGeom prst="rect">
            <a:avLst/>
          </a:prstGeom>
          <a:noFill/>
        </p:spPr>
        <p:txBody>
          <a:bodyPr wrap="square">
            <a:spAutoFit/>
          </a:bodyPr>
          <a:lstStyle/>
          <a:p>
            <a:pPr>
              <a:spcAft>
                <a:spcPts val="1400"/>
              </a:spcAft>
              <a:defRPr sz="2200" b="0">
                <a:solidFill>
                  <a:srgbClr val="BED3E2"/>
                </a:solidFill>
              </a:defRPr>
            </a:pPr>
            <a:r>
              <a:t>Ocean ecosystems</a:t>
            </a:r>
          </a:p>
          <a:p>
            <a:pPr>
              <a:spcAft>
                <a:spcPts val="1400"/>
              </a:spcAft>
              <a:defRPr sz="2200" b="0">
                <a:solidFill>
                  <a:srgbClr val="BED3E2"/>
                </a:solidFill>
              </a:defRPr>
            </a:pPr>
            <a:r>
              <a:t>Tanisha Javeri | October 2026</a:t>
            </a:r>
          </a:p>
        </p:txBody>
      </p:sp>
      <p:sp>
        <p:nvSpPr>
          <p:cNvPr id="5" name="TextBox 4"/>
          <p:cNvSpPr txBox="1"/>
          <p:nvPr/>
        </p:nvSpPr>
        <p:spPr>
          <a:xfrm>
            <a:off x="685800" y="6428232"/>
            <a:ext cx="10058400" cy="228600"/>
          </a:xfrm>
          <a:prstGeom prst="rect">
            <a:avLst/>
          </a:prstGeom>
          <a:noFill/>
        </p:spPr>
        <p:txBody>
          <a:bodyPr wrap="square">
            <a:spAutoFit/>
          </a:bodyPr>
          <a:lstStyle/>
          <a:p>
            <a:pPr>
              <a:spcAft>
                <a:spcPts val="1400"/>
              </a:spcAft>
              <a:defRPr sz="1000" b="0">
                <a:solidFill>
                  <a:srgbClr val="6BE2D2"/>
                </a:solidFill>
              </a:defRPr>
            </a:pPr>
            <a:r>
              <a:t>TANISHA JAVERI     •     ENVIRONMENTAL STUDIES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61120"/>
        </a:solidFill>
        <a:effectLst/>
      </p:bgPr>
    </p:bg>
    <p:spTree>
      <p:nvGrpSpPr>
        <p:cNvPr id="1" name=""/>
        <p:cNvGrpSpPr/>
        <p:nvPr/>
      </p:nvGrpSpPr>
      <p:grpSpPr/>
      <p:sp>
        <p:nvSpPr>
          <p:cNvPr id="2" name="TextBox 1"/>
          <p:cNvSpPr txBox="1"/>
          <p:nvPr/>
        </p:nvSpPr>
        <p:spPr>
          <a:xfrm>
            <a:off x="640080" y="411480"/>
            <a:ext cx="10058400" cy="320040"/>
          </a:xfrm>
          <a:prstGeom prst="rect">
            <a:avLst/>
          </a:prstGeom>
          <a:noFill/>
        </p:spPr>
        <p:txBody>
          <a:bodyPr wrap="square">
            <a:spAutoFit/>
          </a:bodyPr>
          <a:lstStyle/>
          <a:p>
            <a:pPr>
              <a:spcAft>
                <a:spcPts val="1400"/>
              </a:spcAft>
              <a:defRPr sz="1200" b="1">
                <a:solidFill>
                  <a:srgbClr val="6BE2D2"/>
                </a:solidFill>
              </a:defRPr>
            </a:pPr>
            <a:r>
              <a:t>RESEARCH PRESENTATION</a:t>
            </a:r>
          </a:p>
        </p:txBody>
      </p:sp>
      <p:sp>
        <p:nvSpPr>
          <p:cNvPr id="3" name="TextBox 2"/>
          <p:cNvSpPr txBox="1"/>
          <p:nvPr/>
        </p:nvSpPr>
        <p:spPr>
          <a:xfrm>
            <a:off x="640080" y="1005840"/>
            <a:ext cx="10789920" cy="1188720"/>
          </a:xfrm>
          <a:prstGeom prst="rect">
            <a:avLst/>
          </a:prstGeom>
          <a:noFill/>
        </p:spPr>
        <p:txBody>
          <a:bodyPr wrap="square">
            <a:spAutoFit/>
          </a:bodyPr>
          <a:lstStyle/>
          <a:p>
            <a:pPr>
              <a:spcAft>
                <a:spcPts val="1400"/>
              </a:spcAft>
              <a:defRPr sz="3400" b="1">
                <a:solidFill>
                  <a:srgbClr val="F4F9FF"/>
                </a:solidFill>
              </a:defRPr>
            </a:pPr>
            <a:r>
              <a:t>Why this topic matters</a:t>
            </a:r>
          </a:p>
        </p:txBody>
      </p:sp>
      <p:sp>
        <p:nvSpPr>
          <p:cNvPr id="4" name="TextBox 3"/>
          <p:cNvSpPr txBox="1"/>
          <p:nvPr/>
        </p:nvSpPr>
        <p:spPr>
          <a:xfrm>
            <a:off x="685800" y="2423160"/>
            <a:ext cx="10698480" cy="3383280"/>
          </a:xfrm>
          <a:prstGeom prst="rect">
            <a:avLst/>
          </a:prstGeom>
          <a:noFill/>
        </p:spPr>
        <p:txBody>
          <a:bodyPr wrap="square">
            <a:spAutoFit/>
          </a:bodyPr>
          <a:lstStyle/>
          <a:p>
            <a:pPr>
              <a:spcAft>
                <a:spcPts val="1400"/>
              </a:spcAft>
              <a:defRPr sz="2200" b="0">
                <a:solidFill>
                  <a:srgbClr val="BED3E2"/>
                </a:solidFill>
              </a:defRPr>
            </a:pPr>
            <a:r>
              <a:t>Coral reefs support marine biodiversity, but prolonged ocean heat can cause corals to expel the algae that supply much of their energy. Bleaching is a stress response, not an automatic measure of coral mortality.</a:t>
            </a:r>
          </a:p>
        </p:txBody>
      </p:sp>
      <p:sp>
        <p:nvSpPr>
          <p:cNvPr id="5" name="TextBox 4"/>
          <p:cNvSpPr txBox="1"/>
          <p:nvPr/>
        </p:nvSpPr>
        <p:spPr>
          <a:xfrm>
            <a:off x="685800" y="6428232"/>
            <a:ext cx="10058400" cy="228600"/>
          </a:xfrm>
          <a:prstGeom prst="rect">
            <a:avLst/>
          </a:prstGeom>
          <a:noFill/>
        </p:spPr>
        <p:txBody>
          <a:bodyPr wrap="square">
            <a:spAutoFit/>
          </a:bodyPr>
          <a:lstStyle/>
          <a:p>
            <a:pPr>
              <a:spcAft>
                <a:spcPts val="1400"/>
              </a:spcAft>
              <a:defRPr sz="1000" b="0">
                <a:solidFill>
                  <a:srgbClr val="6BE2D2"/>
                </a:solidFill>
              </a:defRPr>
            </a:pPr>
            <a:r>
              <a:t>TANISHA JAVERI     •     ENVIRONMENTAL STUDIES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61120"/>
        </a:solidFill>
        <a:effectLst/>
      </p:bgPr>
    </p:bg>
    <p:spTree>
      <p:nvGrpSpPr>
        <p:cNvPr id="1" name=""/>
        <p:cNvGrpSpPr/>
        <p:nvPr/>
      </p:nvGrpSpPr>
      <p:grpSpPr/>
      <p:sp>
        <p:nvSpPr>
          <p:cNvPr id="2" name="TextBox 1"/>
          <p:cNvSpPr txBox="1"/>
          <p:nvPr/>
        </p:nvSpPr>
        <p:spPr>
          <a:xfrm>
            <a:off x="640080" y="411480"/>
            <a:ext cx="10058400" cy="320040"/>
          </a:xfrm>
          <a:prstGeom prst="rect">
            <a:avLst/>
          </a:prstGeom>
          <a:noFill/>
        </p:spPr>
        <p:txBody>
          <a:bodyPr wrap="square">
            <a:spAutoFit/>
          </a:bodyPr>
          <a:lstStyle/>
          <a:p>
            <a:pPr>
              <a:spcAft>
                <a:spcPts val="1400"/>
              </a:spcAft>
              <a:defRPr sz="1200" b="1">
                <a:solidFill>
                  <a:srgbClr val="6BE2D2"/>
                </a:solidFill>
              </a:defRPr>
            </a:pPr>
            <a:r>
              <a:t>RESEARCH PRESENTATION</a:t>
            </a:r>
          </a:p>
        </p:txBody>
      </p:sp>
      <p:sp>
        <p:nvSpPr>
          <p:cNvPr id="3" name="TextBox 2"/>
          <p:cNvSpPr txBox="1"/>
          <p:nvPr/>
        </p:nvSpPr>
        <p:spPr>
          <a:xfrm>
            <a:off x="640080" y="1005840"/>
            <a:ext cx="10789920" cy="1188720"/>
          </a:xfrm>
          <a:prstGeom prst="rect">
            <a:avLst/>
          </a:prstGeom>
          <a:noFill/>
        </p:spPr>
        <p:txBody>
          <a:bodyPr wrap="square">
            <a:spAutoFit/>
          </a:bodyPr>
          <a:lstStyle/>
          <a:p>
            <a:pPr>
              <a:spcAft>
                <a:spcPts val="1400"/>
              </a:spcAft>
              <a:defRPr sz="3400" b="1">
                <a:solidFill>
                  <a:srgbClr val="F4F9FF"/>
                </a:solidFill>
              </a:defRPr>
            </a:pPr>
            <a:r>
              <a:t>Research question</a:t>
            </a:r>
          </a:p>
        </p:txBody>
      </p:sp>
      <p:sp>
        <p:nvSpPr>
          <p:cNvPr id="4" name="TextBox 3"/>
          <p:cNvSpPr txBox="1"/>
          <p:nvPr/>
        </p:nvSpPr>
        <p:spPr>
          <a:xfrm>
            <a:off x="685800" y="2423160"/>
            <a:ext cx="10698480" cy="3383280"/>
          </a:xfrm>
          <a:prstGeom prst="rect">
            <a:avLst/>
          </a:prstGeom>
          <a:noFill/>
        </p:spPr>
        <p:txBody>
          <a:bodyPr wrap="square">
            <a:spAutoFit/>
          </a:bodyPr>
          <a:lstStyle/>
          <a:p>
            <a:pPr>
              <a:spcAft>
                <a:spcPts val="1400"/>
              </a:spcAft>
              <a:defRPr sz="2200" b="0">
                <a:solidFill>
                  <a:srgbClr val="BED3E2"/>
                </a:solidFill>
              </a:defRPr>
            </a:pPr>
            <a:r>
              <a:t>How did the reported extent of bleaching level heat stress differ between two global events?</a:t>
            </a:r>
          </a:p>
        </p:txBody>
      </p:sp>
      <p:sp>
        <p:nvSpPr>
          <p:cNvPr id="5" name="TextBox 4"/>
          <p:cNvSpPr txBox="1"/>
          <p:nvPr/>
        </p:nvSpPr>
        <p:spPr>
          <a:xfrm>
            <a:off x="685800" y="6428232"/>
            <a:ext cx="10058400" cy="228600"/>
          </a:xfrm>
          <a:prstGeom prst="rect">
            <a:avLst/>
          </a:prstGeom>
          <a:noFill/>
        </p:spPr>
        <p:txBody>
          <a:bodyPr wrap="square">
            <a:spAutoFit/>
          </a:bodyPr>
          <a:lstStyle/>
          <a:p>
            <a:pPr>
              <a:spcAft>
                <a:spcPts val="1400"/>
              </a:spcAft>
              <a:defRPr sz="1000" b="0">
                <a:solidFill>
                  <a:srgbClr val="6BE2D2"/>
                </a:solidFill>
              </a:defRPr>
            </a:pPr>
            <a:r>
              <a:t>TANISHA JAVERI     •     ENVIRONMENTAL STUDIES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61120"/>
        </a:solidFill>
        <a:effectLst/>
      </p:bgPr>
    </p:bg>
    <p:spTree>
      <p:nvGrpSpPr>
        <p:cNvPr id="1" name=""/>
        <p:cNvGrpSpPr/>
        <p:nvPr/>
      </p:nvGrpSpPr>
      <p:grpSpPr/>
      <p:sp>
        <p:nvSpPr>
          <p:cNvPr id="2" name="TextBox 1"/>
          <p:cNvSpPr txBox="1"/>
          <p:nvPr/>
        </p:nvSpPr>
        <p:spPr>
          <a:xfrm>
            <a:off x="640080" y="411480"/>
            <a:ext cx="10058400" cy="320040"/>
          </a:xfrm>
          <a:prstGeom prst="rect">
            <a:avLst/>
          </a:prstGeom>
          <a:noFill/>
        </p:spPr>
        <p:txBody>
          <a:bodyPr wrap="square">
            <a:spAutoFit/>
          </a:bodyPr>
          <a:lstStyle/>
          <a:p>
            <a:pPr>
              <a:spcAft>
                <a:spcPts val="1400"/>
              </a:spcAft>
              <a:defRPr sz="1200" b="1">
                <a:solidFill>
                  <a:srgbClr val="6BE2D2"/>
                </a:solidFill>
              </a:defRPr>
            </a:pPr>
            <a:r>
              <a:t>RESEARCH PRESENTATION</a:t>
            </a:r>
          </a:p>
        </p:txBody>
      </p:sp>
      <p:sp>
        <p:nvSpPr>
          <p:cNvPr id="3" name="TextBox 2"/>
          <p:cNvSpPr txBox="1"/>
          <p:nvPr/>
        </p:nvSpPr>
        <p:spPr>
          <a:xfrm>
            <a:off x="640080" y="1005840"/>
            <a:ext cx="10789920" cy="1188720"/>
          </a:xfrm>
          <a:prstGeom prst="rect">
            <a:avLst/>
          </a:prstGeom>
          <a:noFill/>
        </p:spPr>
        <p:txBody>
          <a:bodyPr wrap="square">
            <a:spAutoFit/>
          </a:bodyPr>
          <a:lstStyle/>
          <a:p>
            <a:pPr>
              <a:spcAft>
                <a:spcPts val="1400"/>
              </a:spcAft>
              <a:defRPr sz="3400" b="1">
                <a:solidFill>
                  <a:srgbClr val="F4F9FF"/>
                </a:solidFill>
              </a:defRPr>
            </a:pPr>
            <a:r>
              <a:t>How I approached the question</a:t>
            </a:r>
          </a:p>
        </p:txBody>
      </p:sp>
      <p:sp>
        <p:nvSpPr>
          <p:cNvPr id="4" name="TextBox 3"/>
          <p:cNvSpPr txBox="1"/>
          <p:nvPr/>
        </p:nvSpPr>
        <p:spPr>
          <a:xfrm>
            <a:off x="685800" y="2423160"/>
            <a:ext cx="10698480" cy="3383280"/>
          </a:xfrm>
          <a:prstGeom prst="rect">
            <a:avLst/>
          </a:prstGeom>
          <a:noFill/>
        </p:spPr>
        <p:txBody>
          <a:bodyPr wrap="square">
            <a:spAutoFit/>
          </a:bodyPr>
          <a:lstStyle/>
          <a:p>
            <a:pPr>
              <a:spcAft>
                <a:spcPts val="1400"/>
              </a:spcAft>
              <a:defRPr sz="2200" b="0">
                <a:solidFill>
                  <a:srgbClr val="BED3E2"/>
                </a:solidFill>
              </a:defRPr>
            </a:pPr>
            <a:r>
              <a:t>I compared two event wide percentages published by NOAA Coral Reef Watch. The third event from 2014 to 2017 exposed 68.2 percent of global reef area to bleaching level heat stress. The fourth event from 2023 to 2025 exposed approximately 84.4 percent.</a:t>
            </a:r>
          </a:p>
        </p:txBody>
      </p:sp>
      <p:sp>
        <p:nvSpPr>
          <p:cNvPr id="5" name="TextBox 4"/>
          <p:cNvSpPr txBox="1"/>
          <p:nvPr/>
        </p:nvSpPr>
        <p:spPr>
          <a:xfrm>
            <a:off x="685800" y="6428232"/>
            <a:ext cx="10058400" cy="228600"/>
          </a:xfrm>
          <a:prstGeom prst="rect">
            <a:avLst/>
          </a:prstGeom>
          <a:noFill/>
        </p:spPr>
        <p:txBody>
          <a:bodyPr wrap="square">
            <a:spAutoFit/>
          </a:bodyPr>
          <a:lstStyle/>
          <a:p>
            <a:pPr>
              <a:spcAft>
                <a:spcPts val="1400"/>
              </a:spcAft>
              <a:defRPr sz="1000" b="0">
                <a:solidFill>
                  <a:srgbClr val="6BE2D2"/>
                </a:solidFill>
              </a:defRPr>
            </a:pPr>
            <a:r>
              <a:t>TANISHA JAVERI     •     ENVIRONMENTAL STUDIES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61120"/>
        </a:solidFill>
        <a:effectLst/>
      </p:bgPr>
    </p:bg>
    <p:spTree>
      <p:nvGrpSpPr>
        <p:cNvPr id="1" name=""/>
        <p:cNvGrpSpPr/>
        <p:nvPr/>
      </p:nvGrpSpPr>
      <p:grpSpPr/>
      <p:sp>
        <p:nvSpPr>
          <p:cNvPr id="2" name="TextBox 1"/>
          <p:cNvSpPr txBox="1"/>
          <p:nvPr/>
        </p:nvSpPr>
        <p:spPr>
          <a:xfrm>
            <a:off x="640080" y="411480"/>
            <a:ext cx="10058400" cy="320040"/>
          </a:xfrm>
          <a:prstGeom prst="rect">
            <a:avLst/>
          </a:prstGeom>
          <a:noFill/>
        </p:spPr>
        <p:txBody>
          <a:bodyPr wrap="square">
            <a:spAutoFit/>
          </a:bodyPr>
          <a:lstStyle/>
          <a:p>
            <a:pPr>
              <a:spcAft>
                <a:spcPts val="1400"/>
              </a:spcAft>
              <a:defRPr sz="1200" b="1">
                <a:solidFill>
                  <a:srgbClr val="6BE2D2"/>
                </a:solidFill>
              </a:defRPr>
            </a:pPr>
            <a:r>
              <a:t>RESEARCH PRESENTATION</a:t>
            </a:r>
          </a:p>
        </p:txBody>
      </p:sp>
      <p:sp>
        <p:nvSpPr>
          <p:cNvPr id="3" name="TextBox 2"/>
          <p:cNvSpPr txBox="1"/>
          <p:nvPr/>
        </p:nvSpPr>
        <p:spPr>
          <a:xfrm>
            <a:off x="640080" y="1005840"/>
            <a:ext cx="10789920" cy="1188720"/>
          </a:xfrm>
          <a:prstGeom prst="rect">
            <a:avLst/>
          </a:prstGeom>
          <a:noFill/>
        </p:spPr>
        <p:txBody>
          <a:bodyPr wrap="square">
            <a:spAutoFit/>
          </a:bodyPr>
          <a:lstStyle/>
          <a:p>
            <a:pPr>
              <a:spcAft>
                <a:spcPts val="1400"/>
              </a:spcAft>
              <a:defRPr sz="3400" b="1">
                <a:solidFill>
                  <a:srgbClr val="F4F9FF"/>
                </a:solidFill>
              </a:defRPr>
            </a:pPr>
            <a:r>
              <a:t>Evidence at a glance</a:t>
            </a:r>
          </a:p>
        </p:txBody>
      </p:sp>
      <p:sp>
        <p:nvSpPr>
          <p:cNvPr id="4" name="TextBox 3"/>
          <p:cNvSpPr txBox="1"/>
          <p:nvPr/>
        </p:nvSpPr>
        <p:spPr>
          <a:xfrm>
            <a:off x="685800" y="2423160"/>
            <a:ext cx="10698480" cy="3383280"/>
          </a:xfrm>
          <a:prstGeom prst="rect">
            <a:avLst/>
          </a:prstGeom>
          <a:noFill/>
        </p:spPr>
        <p:txBody>
          <a:bodyPr wrap="square">
            <a:spAutoFit/>
          </a:bodyPr>
          <a:lstStyle/>
          <a:p>
            <a:pPr>
              <a:spcAft>
                <a:spcPts val="1400"/>
              </a:spcAft>
              <a:defRPr sz="2200" b="0">
                <a:solidFill>
                  <a:srgbClr val="BED3E2"/>
                </a:solidFill>
              </a:defRPr>
            </a:pPr>
            <a:r>
              <a:t>Published agency reference values. These are not measurements collected by this project.</a:t>
            </a:r>
          </a:p>
        </p:txBody>
      </p:sp>
      <p:sp>
        <p:nvSpPr>
          <p:cNvPr id="5" name="TextBox 4"/>
          <p:cNvSpPr txBox="1"/>
          <p:nvPr/>
        </p:nvSpPr>
        <p:spPr>
          <a:xfrm>
            <a:off x="685800" y="6428232"/>
            <a:ext cx="10058400" cy="228600"/>
          </a:xfrm>
          <a:prstGeom prst="rect">
            <a:avLst/>
          </a:prstGeom>
          <a:noFill/>
        </p:spPr>
        <p:txBody>
          <a:bodyPr wrap="square">
            <a:spAutoFit/>
          </a:bodyPr>
          <a:lstStyle/>
          <a:p>
            <a:pPr>
              <a:spcAft>
                <a:spcPts val="1400"/>
              </a:spcAft>
              <a:defRPr sz="1000" b="0">
                <a:solidFill>
                  <a:srgbClr val="6BE2D2"/>
                </a:solidFill>
              </a:defRPr>
            </a:pPr>
            <a:r>
              <a:t>TANISHA JAVERI     •     ENVIRONMENTAL STUDIES</a:t>
            </a:r>
          </a:p>
        </p:txBody>
      </p:sp>
      <p:sp>
        <p:nvSpPr>
          <p:cNvPr id="6" name="TextBox 5"/>
          <p:cNvSpPr txBox="1"/>
          <p:nvPr/>
        </p:nvSpPr>
        <p:spPr>
          <a:xfrm>
            <a:off x="822960" y="3931920"/>
            <a:ext cx="3474720" cy="731520"/>
          </a:xfrm>
          <a:prstGeom prst="rect">
            <a:avLst/>
          </a:prstGeom>
          <a:noFill/>
        </p:spPr>
        <p:txBody>
          <a:bodyPr wrap="square">
            <a:spAutoFit/>
          </a:bodyPr>
          <a:lstStyle/>
          <a:p>
            <a:pPr>
              <a:spcAft>
                <a:spcPts val="1400"/>
              </a:spcAft>
              <a:defRPr sz="4000" b="1">
                <a:solidFill>
                  <a:srgbClr val="6BE2D2"/>
                </a:solidFill>
              </a:defRPr>
            </a:pPr>
            <a:r>
              <a:t>68.2</a:t>
            </a:r>
          </a:p>
        </p:txBody>
      </p:sp>
      <p:sp>
        <p:nvSpPr>
          <p:cNvPr id="7" name="TextBox 6"/>
          <p:cNvSpPr txBox="1"/>
          <p:nvPr/>
        </p:nvSpPr>
        <p:spPr>
          <a:xfrm>
            <a:off x="822960" y="4800600"/>
            <a:ext cx="3383280" cy="640080"/>
          </a:xfrm>
          <a:prstGeom prst="rect">
            <a:avLst/>
          </a:prstGeom>
          <a:noFill/>
        </p:spPr>
        <p:txBody>
          <a:bodyPr wrap="square">
            <a:spAutoFit/>
          </a:bodyPr>
          <a:lstStyle/>
          <a:p>
            <a:pPr>
              <a:spcAft>
                <a:spcPts val="1400"/>
              </a:spcAft>
              <a:defRPr sz="1700" b="0">
                <a:solidFill>
                  <a:srgbClr val="BED3E2"/>
                </a:solidFill>
              </a:defRPr>
            </a:pPr>
            <a:r>
              <a:t>Third event</a:t>
            </a:r>
          </a:p>
          <a:p>
            <a:pPr>
              <a:spcAft>
                <a:spcPts val="1400"/>
              </a:spcAft>
              <a:defRPr sz="1700" b="0">
                <a:solidFill>
                  <a:srgbClr val="BED3E2"/>
                </a:solidFill>
              </a:defRPr>
            </a:pPr>
            <a:r>
              <a:t>percent</a:t>
            </a:r>
          </a:p>
        </p:txBody>
      </p:sp>
      <p:sp>
        <p:nvSpPr>
          <p:cNvPr id="8" name="TextBox 7"/>
          <p:cNvSpPr txBox="1"/>
          <p:nvPr/>
        </p:nvSpPr>
        <p:spPr>
          <a:xfrm>
            <a:off x="4572000" y="3931920"/>
            <a:ext cx="3474720" cy="731520"/>
          </a:xfrm>
          <a:prstGeom prst="rect">
            <a:avLst/>
          </a:prstGeom>
          <a:noFill/>
        </p:spPr>
        <p:txBody>
          <a:bodyPr wrap="square">
            <a:spAutoFit/>
          </a:bodyPr>
          <a:lstStyle/>
          <a:p>
            <a:pPr>
              <a:spcAft>
                <a:spcPts val="1400"/>
              </a:spcAft>
              <a:defRPr sz="4000" b="1">
                <a:solidFill>
                  <a:srgbClr val="6BE2D2"/>
                </a:solidFill>
              </a:defRPr>
            </a:pPr>
            <a:r>
              <a:t>84.4</a:t>
            </a:r>
          </a:p>
        </p:txBody>
      </p:sp>
      <p:sp>
        <p:nvSpPr>
          <p:cNvPr id="9" name="TextBox 8"/>
          <p:cNvSpPr txBox="1"/>
          <p:nvPr/>
        </p:nvSpPr>
        <p:spPr>
          <a:xfrm>
            <a:off x="4572000" y="4800600"/>
            <a:ext cx="3383280" cy="640080"/>
          </a:xfrm>
          <a:prstGeom prst="rect">
            <a:avLst/>
          </a:prstGeom>
          <a:noFill/>
        </p:spPr>
        <p:txBody>
          <a:bodyPr wrap="square">
            <a:spAutoFit/>
          </a:bodyPr>
          <a:lstStyle/>
          <a:p>
            <a:pPr>
              <a:spcAft>
                <a:spcPts val="1400"/>
              </a:spcAft>
              <a:defRPr sz="1700" b="0">
                <a:solidFill>
                  <a:srgbClr val="BED3E2"/>
                </a:solidFill>
              </a:defRPr>
            </a:pPr>
            <a:r>
              <a:t>Fourth event</a:t>
            </a:r>
          </a:p>
          <a:p>
            <a:pPr>
              <a:spcAft>
                <a:spcPts val="1400"/>
              </a:spcAft>
              <a:defRPr sz="1700" b="0">
                <a:solidFill>
                  <a:srgbClr val="BED3E2"/>
                </a:solidFill>
              </a:defRPr>
            </a:pPr>
            <a:r>
              <a:t>percent</a:t>
            </a:r>
          </a:p>
        </p:txBody>
      </p:sp>
      <p:sp>
        <p:nvSpPr>
          <p:cNvPr id="10" name="TextBox 9"/>
          <p:cNvSpPr txBox="1"/>
          <p:nvPr/>
        </p:nvSpPr>
        <p:spPr>
          <a:xfrm>
            <a:off x="8321040" y="3931920"/>
            <a:ext cx="3474720" cy="731520"/>
          </a:xfrm>
          <a:prstGeom prst="rect">
            <a:avLst/>
          </a:prstGeom>
          <a:noFill/>
        </p:spPr>
        <p:txBody>
          <a:bodyPr wrap="square">
            <a:spAutoFit/>
          </a:bodyPr>
          <a:lstStyle/>
          <a:p>
            <a:pPr>
              <a:spcAft>
                <a:spcPts val="1400"/>
              </a:spcAft>
              <a:defRPr sz="4000" b="1">
                <a:solidFill>
                  <a:srgbClr val="6BE2D2"/>
                </a:solidFill>
              </a:defRPr>
            </a:pPr>
            <a:r>
              <a:t>16.2</a:t>
            </a:r>
          </a:p>
        </p:txBody>
      </p:sp>
      <p:sp>
        <p:nvSpPr>
          <p:cNvPr id="11" name="TextBox 10"/>
          <p:cNvSpPr txBox="1"/>
          <p:nvPr/>
        </p:nvSpPr>
        <p:spPr>
          <a:xfrm>
            <a:off x="8321040" y="4800600"/>
            <a:ext cx="3383280" cy="640080"/>
          </a:xfrm>
          <a:prstGeom prst="rect">
            <a:avLst/>
          </a:prstGeom>
          <a:noFill/>
        </p:spPr>
        <p:txBody>
          <a:bodyPr wrap="square">
            <a:spAutoFit/>
          </a:bodyPr>
          <a:lstStyle/>
          <a:p>
            <a:pPr>
              <a:spcAft>
                <a:spcPts val="1400"/>
              </a:spcAft>
              <a:defRPr sz="1700" b="0">
                <a:solidFill>
                  <a:srgbClr val="BED3E2"/>
                </a:solidFill>
              </a:defRPr>
            </a:pPr>
            <a:r>
              <a:t>Difference</a:t>
            </a:r>
          </a:p>
          <a:p>
            <a:pPr>
              <a:spcAft>
                <a:spcPts val="1400"/>
              </a:spcAft>
              <a:defRPr sz="1700" b="0">
                <a:solidFill>
                  <a:srgbClr val="BED3E2"/>
                </a:solidFill>
              </a:defRPr>
            </a:pPr>
            <a:r>
              <a:t>percentage points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61120"/>
        </a:solidFill>
        <a:effectLst/>
      </p:bgPr>
    </p:bg>
    <p:spTree>
      <p:nvGrpSpPr>
        <p:cNvPr id="1" name=""/>
        <p:cNvGrpSpPr/>
        <p:nvPr/>
      </p:nvGrpSpPr>
      <p:grpSpPr/>
      <p:sp>
        <p:nvSpPr>
          <p:cNvPr id="2" name="TextBox 1"/>
          <p:cNvSpPr txBox="1"/>
          <p:nvPr/>
        </p:nvSpPr>
        <p:spPr>
          <a:xfrm>
            <a:off x="640080" y="411480"/>
            <a:ext cx="10058400" cy="320040"/>
          </a:xfrm>
          <a:prstGeom prst="rect">
            <a:avLst/>
          </a:prstGeom>
          <a:noFill/>
        </p:spPr>
        <p:txBody>
          <a:bodyPr wrap="square">
            <a:spAutoFit/>
          </a:bodyPr>
          <a:lstStyle/>
          <a:p>
            <a:pPr>
              <a:spcAft>
                <a:spcPts val="1400"/>
              </a:spcAft>
              <a:defRPr sz="1200" b="1">
                <a:solidFill>
                  <a:srgbClr val="6BE2D2"/>
                </a:solidFill>
              </a:defRPr>
            </a:pPr>
            <a:r>
              <a:t>RESEARCH PRESENTATION</a:t>
            </a:r>
          </a:p>
        </p:txBody>
      </p:sp>
      <p:sp>
        <p:nvSpPr>
          <p:cNvPr id="3" name="TextBox 2"/>
          <p:cNvSpPr txBox="1"/>
          <p:nvPr/>
        </p:nvSpPr>
        <p:spPr>
          <a:xfrm>
            <a:off x="640080" y="1005840"/>
            <a:ext cx="10789920" cy="1188720"/>
          </a:xfrm>
          <a:prstGeom prst="rect">
            <a:avLst/>
          </a:prstGeom>
          <a:noFill/>
        </p:spPr>
        <p:txBody>
          <a:bodyPr wrap="square">
            <a:spAutoFit/>
          </a:bodyPr>
          <a:lstStyle/>
          <a:p>
            <a:pPr>
              <a:spcAft>
                <a:spcPts val="1400"/>
              </a:spcAft>
              <a:defRPr sz="3400" b="1">
                <a:solidFill>
                  <a:srgbClr val="F4F9FF"/>
                </a:solidFill>
              </a:defRPr>
            </a:pPr>
            <a:r>
              <a:t>What the evidence suggests</a:t>
            </a:r>
          </a:p>
        </p:txBody>
      </p:sp>
      <p:sp>
        <p:nvSpPr>
          <p:cNvPr id="4" name="TextBox 3"/>
          <p:cNvSpPr txBox="1"/>
          <p:nvPr/>
        </p:nvSpPr>
        <p:spPr>
          <a:xfrm>
            <a:off x="685800" y="2423160"/>
            <a:ext cx="10698480" cy="3383280"/>
          </a:xfrm>
          <a:prstGeom prst="rect">
            <a:avLst/>
          </a:prstGeom>
          <a:noFill/>
        </p:spPr>
        <p:txBody>
          <a:bodyPr wrap="square">
            <a:spAutoFit/>
          </a:bodyPr>
          <a:lstStyle/>
          <a:p>
            <a:pPr>
              <a:spcAft>
                <a:spcPts val="1400"/>
              </a:spcAft>
              <a:defRPr sz="2200" b="0">
                <a:solidFill>
                  <a:srgbClr val="BED3E2"/>
                </a:solidFill>
              </a:defRPr>
            </a:pPr>
            <a:r>
              <a:t>The difference is 16.2 percentage points. The fourth event affected a larger share of reef area based on the published event summaries. This comparison describes heat exposure rather than coral deaths.</a:t>
            </a:r>
          </a:p>
        </p:txBody>
      </p:sp>
      <p:sp>
        <p:nvSpPr>
          <p:cNvPr id="5" name="TextBox 4"/>
          <p:cNvSpPr txBox="1"/>
          <p:nvPr/>
        </p:nvSpPr>
        <p:spPr>
          <a:xfrm>
            <a:off x="685800" y="6428232"/>
            <a:ext cx="10058400" cy="228600"/>
          </a:xfrm>
          <a:prstGeom prst="rect">
            <a:avLst/>
          </a:prstGeom>
          <a:noFill/>
        </p:spPr>
        <p:txBody>
          <a:bodyPr wrap="square">
            <a:spAutoFit/>
          </a:bodyPr>
          <a:lstStyle/>
          <a:p>
            <a:pPr>
              <a:spcAft>
                <a:spcPts val="1400"/>
              </a:spcAft>
              <a:defRPr sz="1000" b="0">
                <a:solidFill>
                  <a:srgbClr val="6BE2D2"/>
                </a:solidFill>
              </a:defRPr>
            </a:pPr>
            <a:r>
              <a:t>TANISHA JAVERI     •     ENVIRONMENTAL STUDIES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61120"/>
        </a:solidFill>
        <a:effectLst/>
      </p:bgPr>
    </p:bg>
    <p:spTree>
      <p:nvGrpSpPr>
        <p:cNvPr id="1" name=""/>
        <p:cNvGrpSpPr/>
        <p:nvPr/>
      </p:nvGrpSpPr>
      <p:grpSpPr/>
      <p:sp>
        <p:nvSpPr>
          <p:cNvPr id="2" name="TextBox 1"/>
          <p:cNvSpPr txBox="1"/>
          <p:nvPr/>
        </p:nvSpPr>
        <p:spPr>
          <a:xfrm>
            <a:off x="640080" y="411480"/>
            <a:ext cx="10058400" cy="320040"/>
          </a:xfrm>
          <a:prstGeom prst="rect">
            <a:avLst/>
          </a:prstGeom>
          <a:noFill/>
        </p:spPr>
        <p:txBody>
          <a:bodyPr wrap="square">
            <a:spAutoFit/>
          </a:bodyPr>
          <a:lstStyle/>
          <a:p>
            <a:pPr>
              <a:spcAft>
                <a:spcPts val="1400"/>
              </a:spcAft>
              <a:defRPr sz="1200" b="1">
                <a:solidFill>
                  <a:srgbClr val="6BE2D2"/>
                </a:solidFill>
              </a:defRPr>
            </a:pPr>
            <a:r>
              <a:t>RESEARCH PRESENTATION</a:t>
            </a:r>
          </a:p>
        </p:txBody>
      </p:sp>
      <p:sp>
        <p:nvSpPr>
          <p:cNvPr id="3" name="TextBox 2"/>
          <p:cNvSpPr txBox="1"/>
          <p:nvPr/>
        </p:nvSpPr>
        <p:spPr>
          <a:xfrm>
            <a:off x="640080" y="1005840"/>
            <a:ext cx="10789920" cy="1188720"/>
          </a:xfrm>
          <a:prstGeom prst="rect">
            <a:avLst/>
          </a:prstGeom>
          <a:noFill/>
        </p:spPr>
        <p:txBody>
          <a:bodyPr wrap="square">
            <a:spAutoFit/>
          </a:bodyPr>
          <a:lstStyle/>
          <a:p>
            <a:pPr>
              <a:spcAft>
                <a:spcPts val="1400"/>
              </a:spcAft>
              <a:defRPr sz="3400" b="1">
                <a:solidFill>
                  <a:srgbClr val="F4F9FF"/>
                </a:solidFill>
              </a:defRPr>
            </a:pPr>
            <a:r>
              <a:t>What the study cannot tell us</a:t>
            </a:r>
          </a:p>
        </p:txBody>
      </p:sp>
      <p:sp>
        <p:nvSpPr>
          <p:cNvPr id="4" name="TextBox 3"/>
          <p:cNvSpPr txBox="1"/>
          <p:nvPr/>
        </p:nvSpPr>
        <p:spPr>
          <a:xfrm>
            <a:off x="685800" y="2423160"/>
            <a:ext cx="10698480" cy="3383280"/>
          </a:xfrm>
          <a:prstGeom prst="rect">
            <a:avLst/>
          </a:prstGeom>
          <a:noFill/>
        </p:spPr>
        <p:txBody>
          <a:bodyPr wrap="square">
            <a:spAutoFit/>
          </a:bodyPr>
          <a:lstStyle/>
          <a:p>
            <a:pPr>
              <a:spcAft>
                <a:spcPts val="1400"/>
              </a:spcAft>
              <a:defRPr sz="2200" b="0">
                <a:solidFill>
                  <a:srgbClr val="BED3E2"/>
                </a:solidFill>
              </a:defRPr>
            </a:pPr>
            <a:r>
              <a:t>The events cover different lengths of time, and two event summaries are not enough to estimate an annual trend. This analysis does not measure reef recovery, species loss or regional variation.</a:t>
            </a:r>
          </a:p>
        </p:txBody>
      </p:sp>
      <p:sp>
        <p:nvSpPr>
          <p:cNvPr id="5" name="TextBox 4"/>
          <p:cNvSpPr txBox="1"/>
          <p:nvPr/>
        </p:nvSpPr>
        <p:spPr>
          <a:xfrm>
            <a:off x="685800" y="6428232"/>
            <a:ext cx="10058400" cy="228600"/>
          </a:xfrm>
          <a:prstGeom prst="rect">
            <a:avLst/>
          </a:prstGeom>
          <a:noFill/>
        </p:spPr>
        <p:txBody>
          <a:bodyPr wrap="square">
            <a:spAutoFit/>
          </a:bodyPr>
          <a:lstStyle/>
          <a:p>
            <a:pPr>
              <a:spcAft>
                <a:spcPts val="1400"/>
              </a:spcAft>
              <a:defRPr sz="1000" b="0">
                <a:solidFill>
                  <a:srgbClr val="6BE2D2"/>
                </a:solidFill>
              </a:defRPr>
            </a:pPr>
            <a:r>
              <a:t>TANISHA JAVERI     •     ENVIRONMENTAL STUDIES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61120"/>
        </a:solidFill>
        <a:effectLst/>
      </p:bgPr>
    </p:bg>
    <p:spTree>
      <p:nvGrpSpPr>
        <p:cNvPr id="1" name=""/>
        <p:cNvGrpSpPr/>
        <p:nvPr/>
      </p:nvGrpSpPr>
      <p:grpSpPr/>
      <p:sp>
        <p:nvSpPr>
          <p:cNvPr id="2" name="TextBox 1"/>
          <p:cNvSpPr txBox="1"/>
          <p:nvPr/>
        </p:nvSpPr>
        <p:spPr>
          <a:xfrm>
            <a:off x="640080" y="411480"/>
            <a:ext cx="10058400" cy="320040"/>
          </a:xfrm>
          <a:prstGeom prst="rect">
            <a:avLst/>
          </a:prstGeom>
          <a:noFill/>
        </p:spPr>
        <p:txBody>
          <a:bodyPr wrap="square">
            <a:spAutoFit/>
          </a:bodyPr>
          <a:lstStyle/>
          <a:p>
            <a:pPr>
              <a:spcAft>
                <a:spcPts val="1400"/>
              </a:spcAft>
              <a:defRPr sz="1200" b="1">
                <a:solidFill>
                  <a:srgbClr val="6BE2D2"/>
                </a:solidFill>
              </a:defRPr>
            </a:pPr>
            <a:r>
              <a:t>RESEARCH PRESENTATION</a:t>
            </a:r>
          </a:p>
        </p:txBody>
      </p:sp>
      <p:sp>
        <p:nvSpPr>
          <p:cNvPr id="3" name="TextBox 2"/>
          <p:cNvSpPr txBox="1"/>
          <p:nvPr/>
        </p:nvSpPr>
        <p:spPr>
          <a:xfrm>
            <a:off x="640080" y="1005840"/>
            <a:ext cx="10789920" cy="1188720"/>
          </a:xfrm>
          <a:prstGeom prst="rect">
            <a:avLst/>
          </a:prstGeom>
          <a:noFill/>
        </p:spPr>
        <p:txBody>
          <a:bodyPr wrap="square">
            <a:spAutoFit/>
          </a:bodyPr>
          <a:lstStyle/>
          <a:p>
            <a:pPr>
              <a:spcAft>
                <a:spcPts val="1400"/>
              </a:spcAft>
              <a:defRPr sz="3400" b="1">
                <a:solidFill>
                  <a:srgbClr val="F4F9FF"/>
                </a:solidFill>
              </a:defRPr>
            </a:pPr>
            <a:r>
              <a:t>Conclusion and next steps</a:t>
            </a:r>
          </a:p>
        </p:txBody>
      </p:sp>
      <p:sp>
        <p:nvSpPr>
          <p:cNvPr id="4" name="TextBox 3"/>
          <p:cNvSpPr txBox="1"/>
          <p:nvPr/>
        </p:nvSpPr>
        <p:spPr>
          <a:xfrm>
            <a:off x="685800" y="2423160"/>
            <a:ext cx="10698480" cy="3383280"/>
          </a:xfrm>
          <a:prstGeom prst="rect">
            <a:avLst/>
          </a:prstGeom>
          <a:noFill/>
        </p:spPr>
        <p:txBody>
          <a:bodyPr wrap="square">
            <a:spAutoFit/>
          </a:bodyPr>
          <a:lstStyle/>
          <a:p>
            <a:pPr>
              <a:spcAft>
                <a:spcPts val="1400"/>
              </a:spcAft>
              <a:defRPr sz="2200" b="0">
                <a:solidFill>
                  <a:srgbClr val="BED3E2"/>
                </a:solidFill>
              </a:defRPr>
            </a:pPr>
            <a:r>
              <a:t>The NOAA figures show how widespread marine heat stress can become. A stronger follow up project would examine monthly heat stress observations for a specific reef and compare them with documented bleaching surveys.</a:t>
            </a:r>
          </a:p>
        </p:txBody>
      </p:sp>
      <p:sp>
        <p:nvSpPr>
          <p:cNvPr id="5" name="TextBox 4"/>
          <p:cNvSpPr txBox="1"/>
          <p:nvPr/>
        </p:nvSpPr>
        <p:spPr>
          <a:xfrm>
            <a:off x="685800" y="6428232"/>
            <a:ext cx="10058400" cy="228600"/>
          </a:xfrm>
          <a:prstGeom prst="rect">
            <a:avLst/>
          </a:prstGeom>
          <a:noFill/>
        </p:spPr>
        <p:txBody>
          <a:bodyPr wrap="square">
            <a:spAutoFit/>
          </a:bodyPr>
          <a:lstStyle/>
          <a:p>
            <a:pPr>
              <a:spcAft>
                <a:spcPts val="1400"/>
              </a:spcAft>
              <a:defRPr sz="1000" b="0">
                <a:solidFill>
                  <a:srgbClr val="6BE2D2"/>
                </a:solidFill>
              </a:defRPr>
            </a:pPr>
            <a:r>
              <a:t>TANISHA JAVERI     •     ENVIRONMENTAL STUDIES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