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INDEPENDENT RESEARCH</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Why Do Scientists Measure Global Temperature Anomalies?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Earth climate</a:t>
            </a:r>
          </a:p>
          <a:p>
            <a:pPr>
              <a:spcAft>
                <a:spcPts val="1400"/>
              </a:spcAft>
              <a:defRPr sz="2200" b="0">
                <a:solidFill>
                  <a:srgbClr val="BED3E2"/>
                </a:solidFill>
              </a:defRPr>
            </a:pPr>
            <a:r>
              <a:t>Tanisha Javeri | October 2026</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Why this topic matters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A global temperature anomaly describes how a temperature estimate differs from a reference average. It is useful because a change relative to local climate can be compared across regions with different typical temperatures.</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Research question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Why are temperature anomalies useful for understanding long term climate change?</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How I approached the question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I reviewed the NASA GISS Surface Temperature Analysis version 4 documentation. GISTEMP combines meteorological station reports and ocean temperature observations to estimate global surface temperature change. NASA publishes monthly anomalies relative to the 1951 to 1980 reference period.</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Evidence at a glance</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Published agency reference values. These are not measurements collected by this project.</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
        <p:nvSpPr>
          <p:cNvPr id="6" name="TextBox 5"/>
          <p:cNvSpPr txBox="1"/>
          <p:nvPr/>
        </p:nvSpPr>
        <p:spPr>
          <a:xfrm>
            <a:off x="822960" y="3931920"/>
            <a:ext cx="3474720" cy="731520"/>
          </a:xfrm>
          <a:prstGeom prst="rect">
            <a:avLst/>
          </a:prstGeom>
          <a:noFill/>
        </p:spPr>
        <p:txBody>
          <a:bodyPr wrap="square">
            <a:spAutoFit/>
          </a:bodyPr>
          <a:lstStyle/>
          <a:p>
            <a:pPr>
              <a:spcAft>
                <a:spcPts val="1400"/>
              </a:spcAft>
              <a:defRPr sz="4000" b="1">
                <a:solidFill>
                  <a:srgbClr val="6BE2D2"/>
                </a:solidFill>
              </a:defRPr>
            </a:pPr>
            <a:r>
              <a:t>1951</a:t>
            </a:r>
          </a:p>
        </p:txBody>
      </p:sp>
      <p:sp>
        <p:nvSpPr>
          <p:cNvPr id="7" name="TextBox 6"/>
          <p:cNvSpPr txBox="1"/>
          <p:nvPr/>
        </p:nvSpPr>
        <p:spPr>
          <a:xfrm>
            <a:off x="822960" y="4800600"/>
            <a:ext cx="3383280" cy="640080"/>
          </a:xfrm>
          <a:prstGeom prst="rect">
            <a:avLst/>
          </a:prstGeom>
          <a:noFill/>
        </p:spPr>
        <p:txBody>
          <a:bodyPr wrap="square">
            <a:spAutoFit/>
          </a:bodyPr>
          <a:lstStyle/>
          <a:p>
            <a:pPr>
              <a:spcAft>
                <a:spcPts val="1400"/>
              </a:spcAft>
              <a:defRPr sz="1700" b="0">
                <a:solidFill>
                  <a:srgbClr val="BED3E2"/>
                </a:solidFill>
              </a:defRPr>
            </a:pPr>
            <a:r>
              <a:t>Reference start</a:t>
            </a:r>
          </a:p>
          <a:p>
            <a:pPr>
              <a:spcAft>
                <a:spcPts val="1400"/>
              </a:spcAft>
              <a:defRPr sz="1700" b="0">
                <a:solidFill>
                  <a:srgbClr val="BED3E2"/>
                </a:solidFill>
              </a:defRPr>
            </a:pPr>
            <a:r>
              <a:t>year</a:t>
            </a:r>
          </a:p>
        </p:txBody>
      </p:sp>
      <p:sp>
        <p:nvSpPr>
          <p:cNvPr id="8" name="TextBox 7"/>
          <p:cNvSpPr txBox="1"/>
          <p:nvPr/>
        </p:nvSpPr>
        <p:spPr>
          <a:xfrm>
            <a:off x="4572000" y="3931920"/>
            <a:ext cx="3474720" cy="731520"/>
          </a:xfrm>
          <a:prstGeom prst="rect">
            <a:avLst/>
          </a:prstGeom>
          <a:noFill/>
        </p:spPr>
        <p:txBody>
          <a:bodyPr wrap="square">
            <a:spAutoFit/>
          </a:bodyPr>
          <a:lstStyle/>
          <a:p>
            <a:pPr>
              <a:spcAft>
                <a:spcPts val="1400"/>
              </a:spcAft>
              <a:defRPr sz="4000" b="1">
                <a:solidFill>
                  <a:srgbClr val="6BE2D2"/>
                </a:solidFill>
              </a:defRPr>
            </a:pPr>
            <a:r>
              <a:t>1980</a:t>
            </a:r>
          </a:p>
        </p:txBody>
      </p:sp>
      <p:sp>
        <p:nvSpPr>
          <p:cNvPr id="9" name="TextBox 8"/>
          <p:cNvSpPr txBox="1"/>
          <p:nvPr/>
        </p:nvSpPr>
        <p:spPr>
          <a:xfrm>
            <a:off x="4572000" y="4800600"/>
            <a:ext cx="3383280" cy="640080"/>
          </a:xfrm>
          <a:prstGeom prst="rect">
            <a:avLst/>
          </a:prstGeom>
          <a:noFill/>
        </p:spPr>
        <p:txBody>
          <a:bodyPr wrap="square">
            <a:spAutoFit/>
          </a:bodyPr>
          <a:lstStyle/>
          <a:p>
            <a:pPr>
              <a:spcAft>
                <a:spcPts val="1400"/>
              </a:spcAft>
              <a:defRPr sz="1700" b="0">
                <a:solidFill>
                  <a:srgbClr val="BED3E2"/>
                </a:solidFill>
              </a:defRPr>
            </a:pPr>
            <a:r>
              <a:t>Reference end</a:t>
            </a:r>
          </a:p>
          <a:p>
            <a:pPr>
              <a:spcAft>
                <a:spcPts val="1400"/>
              </a:spcAft>
              <a:defRPr sz="1700" b="0">
                <a:solidFill>
                  <a:srgbClr val="BED3E2"/>
                </a:solidFill>
              </a:defRPr>
            </a:pPr>
            <a:r>
              <a:t>year</a:t>
            </a:r>
          </a:p>
        </p:txBody>
      </p:sp>
      <p:sp>
        <p:nvSpPr>
          <p:cNvPr id="10" name="TextBox 9"/>
          <p:cNvSpPr txBox="1"/>
          <p:nvPr/>
        </p:nvSpPr>
        <p:spPr>
          <a:xfrm>
            <a:off x="8321040" y="3931920"/>
            <a:ext cx="3474720" cy="731520"/>
          </a:xfrm>
          <a:prstGeom prst="rect">
            <a:avLst/>
          </a:prstGeom>
          <a:noFill/>
        </p:spPr>
        <p:txBody>
          <a:bodyPr wrap="square">
            <a:spAutoFit/>
          </a:bodyPr>
          <a:lstStyle/>
          <a:p>
            <a:pPr>
              <a:spcAft>
                <a:spcPts val="1400"/>
              </a:spcAft>
              <a:defRPr sz="4000" b="1">
                <a:solidFill>
                  <a:srgbClr val="6BE2D2"/>
                </a:solidFill>
              </a:defRPr>
            </a:pPr>
            <a:r>
              <a:t>1880</a:t>
            </a:r>
          </a:p>
        </p:txBody>
      </p:sp>
      <p:sp>
        <p:nvSpPr>
          <p:cNvPr id="11" name="TextBox 10"/>
          <p:cNvSpPr txBox="1"/>
          <p:nvPr/>
        </p:nvSpPr>
        <p:spPr>
          <a:xfrm>
            <a:off x="8321040" y="4800600"/>
            <a:ext cx="3383280" cy="640080"/>
          </a:xfrm>
          <a:prstGeom prst="rect">
            <a:avLst/>
          </a:prstGeom>
          <a:noFill/>
        </p:spPr>
        <p:txBody>
          <a:bodyPr wrap="square">
            <a:spAutoFit/>
          </a:bodyPr>
          <a:lstStyle/>
          <a:p>
            <a:pPr>
              <a:spcAft>
                <a:spcPts val="1400"/>
              </a:spcAft>
              <a:defRPr sz="1700" b="0">
                <a:solidFill>
                  <a:srgbClr val="BED3E2"/>
                </a:solidFill>
              </a:defRPr>
            </a:pPr>
            <a:r>
              <a:t>Record start</a:t>
            </a:r>
          </a:p>
          <a:p>
            <a:pPr>
              <a:spcAft>
                <a:spcPts val="1400"/>
              </a:spcAft>
              <a:defRPr sz="1700" b="0">
                <a:solidFill>
                  <a:srgbClr val="BED3E2"/>
                </a:solidFill>
              </a:defRPr>
            </a:pPr>
            <a:r>
              <a:t>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the evidence suggests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Temperature anomalies allow comparisons over time while reducing the effect of different baseline climates. A positive anomaly means warmer than the selected reference average, not that every location on Earth was warm that month.</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the study cannot tell us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A short selection of monthly anomalies cannot by itself establish the full long term climate trend. The results depend on coverage, quality controls and the chosen reference period. This paper explains methodology rather than claiming a new statistical finding.</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Conclusion and next steps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Temperature anomalies are an important foundation for climate data analysis. A future extension could download the full NASA monthly series and test a trend with uncertainty estimates.</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