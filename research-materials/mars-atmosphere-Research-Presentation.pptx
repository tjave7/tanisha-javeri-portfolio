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INDEPENDENT RESEARCH</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How Does the Martian Atmosphere Affect Future Human Exploration?</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Mars atmosphere</a:t>
            </a:r>
          </a:p>
          <a:p>
            <a:pPr>
              <a:spcAft>
                <a:spcPts val="1400"/>
              </a:spcAft>
              <a:defRPr sz="2200" b="0">
                <a:solidFill>
                  <a:srgbClr val="BED3E2"/>
                </a:solidFill>
              </a:defRPr>
            </a:pPr>
            <a:r>
              <a:t>Tanisha Javeri | October 2026</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Why this topic matters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Mars has a very thin atmosphere, so a person cannot breathe or survive outdoors without life support. Its atmospheric pressure also changes the engineering requirements for spacecraft landing.</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Research question</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How does the composition and pressure of the Martian atmosphere shape exploration?</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How I approached the question</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I reviewed published NASA planetary reference values and compared atmospheric conditions with the requirements for human survival. The NASA Mars Fact Sheet reports average surface pressure of approximately 6.36 millibars and an average temperature near 214 kelvin.</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Evidence at a glance</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Published agency reference values. These are not measurements collected by this project.</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
        <p:nvSpPr>
          <p:cNvPr id="6" name="TextBox 5"/>
          <p:cNvSpPr txBox="1"/>
          <p:nvPr/>
        </p:nvSpPr>
        <p:spPr>
          <a:xfrm>
            <a:off x="822960" y="3931920"/>
            <a:ext cx="3474720" cy="731520"/>
          </a:xfrm>
          <a:prstGeom prst="rect">
            <a:avLst/>
          </a:prstGeom>
          <a:noFill/>
        </p:spPr>
        <p:txBody>
          <a:bodyPr wrap="square">
            <a:spAutoFit/>
          </a:bodyPr>
          <a:lstStyle/>
          <a:p>
            <a:pPr>
              <a:spcAft>
                <a:spcPts val="1400"/>
              </a:spcAft>
              <a:defRPr sz="4000" b="1">
                <a:solidFill>
                  <a:srgbClr val="6BE2D2"/>
                </a:solidFill>
              </a:defRPr>
            </a:pPr>
            <a:r>
              <a:t>6.36</a:t>
            </a:r>
          </a:p>
        </p:txBody>
      </p:sp>
      <p:sp>
        <p:nvSpPr>
          <p:cNvPr id="7" name="TextBox 6"/>
          <p:cNvSpPr txBox="1"/>
          <p:nvPr/>
        </p:nvSpPr>
        <p:spPr>
          <a:xfrm>
            <a:off x="822960" y="4800600"/>
            <a:ext cx="3383280" cy="640080"/>
          </a:xfrm>
          <a:prstGeom prst="rect">
            <a:avLst/>
          </a:prstGeom>
          <a:noFill/>
        </p:spPr>
        <p:txBody>
          <a:bodyPr wrap="square">
            <a:spAutoFit/>
          </a:bodyPr>
          <a:lstStyle/>
          <a:p>
            <a:pPr>
              <a:spcAft>
                <a:spcPts val="1400"/>
              </a:spcAft>
              <a:defRPr sz="1700" b="0">
                <a:solidFill>
                  <a:srgbClr val="BED3E2"/>
                </a:solidFill>
              </a:defRPr>
            </a:pPr>
            <a:r>
              <a:t>Surface pressure</a:t>
            </a:r>
          </a:p>
          <a:p>
            <a:pPr>
              <a:spcAft>
                <a:spcPts val="1400"/>
              </a:spcAft>
              <a:defRPr sz="1700" b="0">
                <a:solidFill>
                  <a:srgbClr val="BED3E2"/>
                </a:solidFill>
              </a:defRPr>
            </a:pPr>
            <a:r>
              <a:t>millibars</a:t>
            </a:r>
          </a:p>
        </p:txBody>
      </p:sp>
      <p:sp>
        <p:nvSpPr>
          <p:cNvPr id="8" name="TextBox 7"/>
          <p:cNvSpPr txBox="1"/>
          <p:nvPr/>
        </p:nvSpPr>
        <p:spPr>
          <a:xfrm>
            <a:off x="4572000" y="3931920"/>
            <a:ext cx="3474720" cy="731520"/>
          </a:xfrm>
          <a:prstGeom prst="rect">
            <a:avLst/>
          </a:prstGeom>
          <a:noFill/>
        </p:spPr>
        <p:txBody>
          <a:bodyPr wrap="square">
            <a:spAutoFit/>
          </a:bodyPr>
          <a:lstStyle/>
          <a:p>
            <a:pPr>
              <a:spcAft>
                <a:spcPts val="1400"/>
              </a:spcAft>
              <a:defRPr sz="4000" b="1">
                <a:solidFill>
                  <a:srgbClr val="6BE2D2"/>
                </a:solidFill>
              </a:defRPr>
            </a:pPr>
            <a:r>
              <a:t>95.1</a:t>
            </a:r>
          </a:p>
        </p:txBody>
      </p:sp>
      <p:sp>
        <p:nvSpPr>
          <p:cNvPr id="9" name="TextBox 8"/>
          <p:cNvSpPr txBox="1"/>
          <p:nvPr/>
        </p:nvSpPr>
        <p:spPr>
          <a:xfrm>
            <a:off x="4572000" y="4800600"/>
            <a:ext cx="3383280" cy="640080"/>
          </a:xfrm>
          <a:prstGeom prst="rect">
            <a:avLst/>
          </a:prstGeom>
          <a:noFill/>
        </p:spPr>
        <p:txBody>
          <a:bodyPr wrap="square">
            <a:spAutoFit/>
          </a:bodyPr>
          <a:lstStyle/>
          <a:p>
            <a:pPr>
              <a:spcAft>
                <a:spcPts val="1400"/>
              </a:spcAft>
              <a:defRPr sz="1700" b="0">
                <a:solidFill>
                  <a:srgbClr val="BED3E2"/>
                </a:solidFill>
              </a:defRPr>
            </a:pPr>
            <a:r>
              <a:t>Carbon dioxide</a:t>
            </a:r>
          </a:p>
          <a:p>
            <a:pPr>
              <a:spcAft>
                <a:spcPts val="1400"/>
              </a:spcAft>
              <a:defRPr sz="1700" b="0">
                <a:solidFill>
                  <a:srgbClr val="BED3E2"/>
                </a:solidFill>
              </a:defRPr>
            </a:pPr>
            <a:r>
              <a:t>percent</a:t>
            </a:r>
          </a:p>
        </p:txBody>
      </p:sp>
      <p:sp>
        <p:nvSpPr>
          <p:cNvPr id="10" name="TextBox 9"/>
          <p:cNvSpPr txBox="1"/>
          <p:nvPr/>
        </p:nvSpPr>
        <p:spPr>
          <a:xfrm>
            <a:off x="8321040" y="3931920"/>
            <a:ext cx="3474720" cy="731520"/>
          </a:xfrm>
          <a:prstGeom prst="rect">
            <a:avLst/>
          </a:prstGeom>
          <a:noFill/>
        </p:spPr>
        <p:txBody>
          <a:bodyPr wrap="square">
            <a:spAutoFit/>
          </a:bodyPr>
          <a:lstStyle/>
          <a:p>
            <a:pPr>
              <a:spcAft>
                <a:spcPts val="1400"/>
              </a:spcAft>
              <a:defRPr sz="4000" b="1">
                <a:solidFill>
                  <a:srgbClr val="6BE2D2"/>
                </a:solidFill>
              </a:defRPr>
            </a:pPr>
            <a:r>
              <a:t>214</a:t>
            </a:r>
          </a:p>
        </p:txBody>
      </p:sp>
      <p:sp>
        <p:nvSpPr>
          <p:cNvPr id="11" name="TextBox 10"/>
          <p:cNvSpPr txBox="1"/>
          <p:nvPr/>
        </p:nvSpPr>
        <p:spPr>
          <a:xfrm>
            <a:off x="8321040" y="4800600"/>
            <a:ext cx="3383280" cy="640080"/>
          </a:xfrm>
          <a:prstGeom prst="rect">
            <a:avLst/>
          </a:prstGeom>
          <a:noFill/>
        </p:spPr>
        <p:txBody>
          <a:bodyPr wrap="square">
            <a:spAutoFit/>
          </a:bodyPr>
          <a:lstStyle/>
          <a:p>
            <a:pPr>
              <a:spcAft>
                <a:spcPts val="1400"/>
              </a:spcAft>
              <a:defRPr sz="1700" b="0">
                <a:solidFill>
                  <a:srgbClr val="BED3E2"/>
                </a:solidFill>
              </a:defRPr>
            </a:pPr>
            <a:r>
              <a:t>Average temperature</a:t>
            </a:r>
          </a:p>
          <a:p>
            <a:pPr>
              <a:spcAft>
                <a:spcPts val="1400"/>
              </a:spcAft>
              <a:defRPr sz="1700" b="0">
                <a:solidFill>
                  <a:srgbClr val="BED3E2"/>
                </a:solidFill>
              </a:defRPr>
            </a:pPr>
            <a:r>
              <a:t>kelvin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What the evidence suggests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Mars atmospheric pressure is far below that of Earth. NASA reports that carbon dioxide makes up about 95 percent of the atmosphere. These conditions mean that habitats need controlled pressure, oxygen supplies and thermal protection.</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What the study cannot tell us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The figures are global reference values rather than a time series from one landing site. Temperature and pressure change with location, season and time of day. This review does not test a habitat design.</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Conclusion and next steps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The atmosphere makes Mars a compelling scientific destination but also creates serious engineering challenges. Future work could examine seasonal observations from Mars missions.</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